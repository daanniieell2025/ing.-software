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  <p:sldMasterId id="2147483673" r:id="rId5"/>
  </p:sldMasterIdLst>
  <p:notesMasterIdLst>
    <p:notesMasterId r:id="rId24"/>
  </p:notesMasterIdLst>
  <p:sldIdLst>
    <p:sldId id="257" r:id="rId6"/>
    <p:sldId id="270" r:id="rId7"/>
    <p:sldId id="261" r:id="rId8"/>
    <p:sldId id="262" r:id="rId9"/>
    <p:sldId id="263" r:id="rId10"/>
    <p:sldId id="275" r:id="rId11"/>
    <p:sldId id="276" r:id="rId12"/>
    <p:sldId id="271" r:id="rId13"/>
    <p:sldId id="264" r:id="rId14"/>
    <p:sldId id="265" r:id="rId15"/>
    <p:sldId id="266" r:id="rId16"/>
    <p:sldId id="272" r:id="rId17"/>
    <p:sldId id="273" r:id="rId18"/>
    <p:sldId id="274" r:id="rId19"/>
    <p:sldId id="279" r:id="rId20"/>
    <p:sldId id="268" r:id="rId21"/>
    <p:sldId id="277" r:id="rId22"/>
    <p:sldId id="278" r:id="rId23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3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93"/>
    <p:restoredTop sz="94702"/>
  </p:normalViewPr>
  <p:slideViewPr>
    <p:cSldViewPr snapToGrid="0" snapToObjects="1">
      <p:cViewPr varScale="1">
        <p:scale>
          <a:sx n="78" d="100"/>
          <a:sy n="78" d="100"/>
        </p:scale>
        <p:origin x="31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B8DD1E-D7A3-436C-A948-97A9154880E3}" type="datetimeFigureOut">
              <a:rPr lang="es-CL" smtClean="0"/>
              <a:t>17-12-2025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00DDB-48FD-408C-BE17-39AD8D957B7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32379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E7F881-7E7A-42A2-AB03-4BD409C996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87CF48-1E17-42FC-9912-62FC8C7010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30DC62-5284-444C-ADA0-E33F1D94A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59666-C988-45E9-9C28-18FCF199ABE4}" type="datetime1">
              <a:rPr lang="es-CL" smtClean="0"/>
              <a:t>17-12-2025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8DC41D3-73BB-40CA-A2A6-A7B810C95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27C9B1-F270-4234-A2C8-B3F957488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72265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E9CBD0-F9A8-4F7C-A78D-FE553BE33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8AEE33-0300-435E-A58D-1179A29E8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7E4DB8-5C37-473E-9CF3-F398156E0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DC0DF-1FEF-40F0-8656-6AFBF63417FA}" type="datetime1">
              <a:rPr lang="es-CL" smtClean="0"/>
              <a:t>17-12-2025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94AE8F-F369-4771-9FEC-EF42247F3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1C747E-8B93-4D09-B302-F17624C3E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1860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231033-3742-49CE-A9A2-C42BD60D6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A6BF2FA-3B6D-40ED-8F22-4CE59FBE5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F931EC-EDD5-4196-9F0F-DC03EFE8C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09837-0C6D-4C51-A624-978A3D45C247}" type="datetime1">
              <a:rPr lang="es-CL" smtClean="0"/>
              <a:t>17-12-2025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71CBDF-8031-4F53-9181-606BDF55A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15D10E-7D4F-40E8-82F5-CEAB8A834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88639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395294-4072-490D-A039-5D818BAEA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000E41-75FC-49A6-8073-492BC29E62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4E1D932-5A65-498C-AFFA-67FD471E80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E2D37AE-A57E-446F-B245-B1F4B92BF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EFFF6-099C-4901-874E-5F80F0057D73}" type="datetime1">
              <a:rPr lang="es-CL" smtClean="0"/>
              <a:t>17-12-2025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1725711-AE8C-4D43-8E8D-3F7FDFBAD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B1DEDF7-CD02-49B8-886B-B4F14D92C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51722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8D8371-41DA-4FB9-9EAA-6587FBF53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501CC30-E837-49FE-9147-6F1FE2CFBB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B115255-0D14-427D-9E50-B90184773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E442614-286F-4437-9A74-0367ECFF63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9C9F7DD-EB33-48AC-B40F-2790B52446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E398B42-788C-426B-BC79-1C69A0A77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83E8-A95F-45CB-A23F-45B215B2959F}" type="datetime1">
              <a:rPr lang="es-CL" smtClean="0"/>
              <a:t>17-12-2025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9F5E8FE-5B69-450E-BDA4-BE7AB925B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9B5E24D-2EA5-45FA-9223-38A1AAD92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8687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828E71-317B-4D96-9353-A39A49E9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84BD1B7-D5BE-4916-9029-9B72BFAB9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6D293-6504-4483-ABD8-28B7FB09EE43}" type="datetime1">
              <a:rPr lang="es-CL" smtClean="0"/>
              <a:t>17-12-2025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8878411-3DD4-413F-A3BC-C0BF18B31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E6537CA-DF42-44FD-AEE1-39D89D6C4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55754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7FDC410-F9E2-42E1-B29F-D27075EFF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2B80D-723A-4CAC-AB80-9F4A729484E0}" type="datetime1">
              <a:rPr lang="es-CL" smtClean="0"/>
              <a:t>17-12-2025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A14E991-545A-41DE-B216-60119D82E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E666BED-267C-4EBE-BBDE-F1A182813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84087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47E7AD-0239-4D71-8522-DD60718C9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DE8EE7-FEE1-43AB-9A99-2959550B7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DBD5AA3-D103-4A9F-BBDD-5D70844920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C27D2E7-3EC8-405E-9DAE-C14306EC4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808AF-E7EE-47A9-8C2A-71F68D75C039}" type="datetime1">
              <a:rPr lang="es-CL" smtClean="0"/>
              <a:t>17-12-2025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F4DDD23-5A21-4EAA-88C7-B889C2C79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5035A4B-DC69-47ED-BD59-047D3D59B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78181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784379-0B94-4277-8EAA-756F239E7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0C329CD-10AE-4DCA-8856-D27A044DF4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C03C0D1-F85D-4DA9-BDDE-A63E39145F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222B7E-BB18-4169-BD2E-BF5A2CE1F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F038E-FB0F-4FC9-89CD-4E9EC04D2D12}" type="datetime1">
              <a:rPr lang="es-CL" smtClean="0"/>
              <a:t>17-12-2025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E397AEE-F322-4769-8DD6-26D8E4560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757039A-8640-4D2D-8ED7-F816216D5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17777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9E1C0B-4227-42F9-9CDD-F7FBC05A3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950B8B6-4996-4788-87C2-11064F30CF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B8CD7E-9594-4BC1-9549-A4D70A37E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66D7D-B244-491A-B750-646FCF7BB0F8}" type="datetime1">
              <a:rPr lang="es-CL" smtClean="0"/>
              <a:t>17-12-2025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F6C718-751C-4BBD-B568-363D8A1C0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4483B6-E473-4EA8-89F7-6D3525945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83522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AA4AAE6-179E-4285-B8B6-212DBE5C43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7CC598C-BD17-4123-B58B-168A82A8B7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1F19BC-782F-4A3E-B7DF-D1BC4A510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65207-ADB8-4B31-8AEE-BEC7F66E67F4}" type="datetime1">
              <a:rPr lang="es-CL" smtClean="0"/>
              <a:t>17-12-2025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F7B50B-52CD-4B4C-ADA0-57EFE1928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A5A239-CB30-472D-914D-307F1D0FF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689564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27451"/>
            <a:ext cx="12191998" cy="691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3462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DF9CF7-6F66-054D-98F8-0F234A1091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74E0B04-634D-C743-A2AC-995D81BE8D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3C37CF-67D0-104D-BF32-63E5BF969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D719A-7FC3-4BDA-B2E1-DDAF639557DA}" type="datetime1">
              <a:rPr lang="es-CL" smtClean="0"/>
              <a:t>17-12-2025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9798C9-8676-0B41-92E3-05211563F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08F2E5-26A5-0C45-B924-223486A7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654630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18CDDC-2364-F646-BE5E-0C14EEDFA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B57612-F252-824C-8C6C-1B711BF4E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19FE806-DCCA-0345-8849-5AB27C051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DE187-AAB5-4BCD-82A4-6A7643372AB7}" type="datetime1">
              <a:rPr lang="es-CL" smtClean="0"/>
              <a:t>17-12-2025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8097E5-9B1C-B548-A703-4B5F6C335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89015F-5F06-7E45-8B6B-D402CA2AF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228283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34B47C-25AF-B349-B6C9-EF8FC21C4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16E1D3-31DB-7D42-B45B-9C4E11CCC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C303F42-98DC-6C40-95EC-D87824B48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CAC22-E44D-4D36-A26A-3315A87C7880}" type="datetime1">
              <a:rPr lang="es-CL" smtClean="0"/>
              <a:t>17-12-2025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2B9517-3F0B-EC4A-8EA8-34912021C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C95985-731E-2B4B-AC24-E51AF8585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21435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ECF2FF-EDF9-0047-BE55-6B705A57A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A51CE6-72A7-7240-A0E3-ED880E0D3B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EBC62D3-C6B9-164B-8A7F-0BE22F2DB6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6116DD8-D249-EE47-A182-4FE53317D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7FC23-9529-492C-A70E-95DAB19C2A18}" type="datetime1">
              <a:rPr lang="es-CL" smtClean="0"/>
              <a:t>17-12-2025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81398FE-F199-804B-9110-2121E0066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48AB4A9-0403-6A40-A784-2B88654CB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91322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E979E6-2584-7941-859F-CCDAA3084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F63F72D-0059-0240-AB3F-6BCE566B63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918A09E-7E2B-8E4C-A908-BA8C90314F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8F27A18-E047-0749-AF16-01534901A7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C8C5ED6-1D34-7047-AA50-45B7016149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9DB9A75-33FC-1941-BDDD-4219DC3C9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D6AB8-BBA6-4C21-830D-4D43461D6463}" type="datetime1">
              <a:rPr lang="es-CL" smtClean="0"/>
              <a:t>17-12-2025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B091A54-B7CF-5A47-8DC3-599136578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28E158F-7CE7-104F-B3EE-DF171B7DD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755282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6555B-BC4B-9F47-B9A0-BF1261941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5005E2F-78D1-9941-95E0-DEDFDE2CA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06F6-D453-4F22-834B-016713FAC149}" type="datetime1">
              <a:rPr lang="es-CL" smtClean="0"/>
              <a:t>17-12-2025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A537C24-F204-B949-9958-536172934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255C051-F3AC-A841-AA92-C048A9873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935187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CA687E6-1053-FD4F-B346-5B69CC5C7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63363-B0E5-4295-85DF-E4EB546F01A6}" type="datetime1">
              <a:rPr lang="es-CL" smtClean="0"/>
              <a:t>17-12-2025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67E3E83-69B3-C946-B8D9-81C00F78C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27ABDB2-8FC3-E145-9173-C936CD342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18793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832CF5-4000-1F41-B68B-1BFD5DB8B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ACC959-333A-6744-9A12-BC02AA713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5B207A5-BF06-B64F-A6F8-83023455F9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AA044C3-70CA-C64E-B7DC-19C91DCD6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0ECC2-2861-452F-99AE-CFB66938F233}" type="datetime1">
              <a:rPr lang="es-CL" smtClean="0"/>
              <a:t>17-12-2025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1E8870F-E31A-414D-989B-B9CA4A0C2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B37A9CE-B793-E743-9195-E93956326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180375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EE9A90-C190-A048-88FF-DD36EC613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77E14FB-25C2-4341-BAC5-B31EBB1297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F900A6A-696B-7344-896D-598C1D5789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529C7F6-1A69-F54E-9DBB-E549E66F9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98981-C785-47C6-A3D5-543428F39354}" type="datetime1">
              <a:rPr lang="es-CL" smtClean="0"/>
              <a:t>17-12-2025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9631E45-3928-124C-8F25-E5D7D546D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1F6EDFC-D0E8-3646-A0BB-EE83F78A1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917560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31B03E-04CD-3146-9323-359C477C3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E8B243C-0813-C54C-9416-8C5183312C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462910-29A6-324E-9955-315D6CBE4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D25A4-5DBD-4821-A8CC-544F32DB46C6}" type="datetime1">
              <a:rPr lang="es-CL" smtClean="0"/>
              <a:t>17-12-2025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B682EB6-C024-7946-92DD-25A427FF7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8027C5-2F21-D349-AEF6-5003F53CA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53871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3C74D8E-BFF8-0D45-9225-1E92E9F901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D44FDCE-B976-364A-A776-B8D03B7834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C374F2-9E5D-5D4A-880A-B66001FC7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21DA3-1377-427A-9263-05315A9B6ADA}" type="datetime1">
              <a:rPr lang="es-CL" smtClean="0"/>
              <a:t>17-12-2025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913ADA-CE51-D34D-84CA-461BB1646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4A22CB-A67E-7C4A-852C-656CA1BC5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6475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C0C3137-72D4-4BE4-9F8B-299C1F721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15A72AB-47CE-4F41-B378-05B8CAF839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C61EC6-802B-4783-ACA1-3C65247829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4AD231-D97B-4A23-BB8E-D7AEE91439B4}" type="datetime1">
              <a:rPr lang="es-CL" smtClean="0"/>
              <a:t>17-12-2025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8A8810-A4CE-4993-8840-D90A3489C4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C1A242-4392-40BC-9DBB-B6B36179C9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90414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0E41CA3-8D92-1C4F-980D-0362C833D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9BF8598-311B-8640-9212-C19431441D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13AAA7-0FBC-AB4E-808B-650577A053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D7005D-9E7B-470E-BB0D-677E43192F46}" type="datetime1">
              <a:rPr lang="es-CL" smtClean="0"/>
              <a:t>17-12-2025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E70EABB-8162-2C49-8AE9-C81B7DBACD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B21562-F758-B645-9D7B-BAE18886E2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35257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F3D30CF-24C2-DFBE-798E-725098F22765}"/>
              </a:ext>
            </a:extLst>
          </p:cNvPr>
          <p:cNvSpPr txBox="1"/>
          <p:nvPr/>
        </p:nvSpPr>
        <p:spPr>
          <a:xfrm>
            <a:off x="1849924" y="3434984"/>
            <a:ext cx="888690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400" b="1" cap="all" dirty="0">
                <a:solidFill>
                  <a:schemeClr val="bg1"/>
                </a:solidFill>
              </a:rPr>
              <a:t>Sistema de Validación de Rendimiento de una Bobina Tesla</a:t>
            </a:r>
          </a:p>
          <a:p>
            <a:endParaRPr lang="es-CL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B2437BD-4F89-45AD-6A32-1209DFBA1A91}"/>
              </a:ext>
            </a:extLst>
          </p:cNvPr>
          <p:cNvSpPr txBox="1"/>
          <p:nvPr/>
        </p:nvSpPr>
        <p:spPr>
          <a:xfrm>
            <a:off x="3835199" y="3966061"/>
            <a:ext cx="4824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>
                <a:solidFill>
                  <a:schemeClr val="bg1"/>
                </a:solidFill>
              </a:rPr>
              <a:t>Ingeniería de Software Interdisciplinaria - Sprint 1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5C74892-1B48-7EDF-1A7F-E513AAF07ADC}"/>
              </a:ext>
            </a:extLst>
          </p:cNvPr>
          <p:cNvSpPr txBox="1"/>
          <p:nvPr/>
        </p:nvSpPr>
        <p:spPr>
          <a:xfrm>
            <a:off x="6940941" y="4705115"/>
            <a:ext cx="303134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>
                <a:solidFill>
                  <a:schemeClr val="bg1"/>
                </a:solidFill>
              </a:rPr>
              <a:t>Integrantes: Alejandro Alarcón</a:t>
            </a:r>
          </a:p>
          <a:p>
            <a:r>
              <a:rPr lang="es-CL" dirty="0">
                <a:solidFill>
                  <a:schemeClr val="bg1"/>
                </a:solidFill>
              </a:rPr>
              <a:t>	     Pablo Canales </a:t>
            </a:r>
          </a:p>
          <a:p>
            <a:r>
              <a:rPr lang="es-CL" dirty="0">
                <a:solidFill>
                  <a:schemeClr val="bg1"/>
                </a:solidFill>
              </a:rPr>
              <a:t>	     Daniel González</a:t>
            </a:r>
          </a:p>
          <a:p>
            <a:r>
              <a:rPr lang="es-CL" dirty="0">
                <a:solidFill>
                  <a:schemeClr val="bg1"/>
                </a:solidFill>
              </a:rPr>
              <a:t>	     Matias Kohl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D5EF9F1-87F6-32C7-FCBD-303C64A3BAF7}"/>
              </a:ext>
            </a:extLst>
          </p:cNvPr>
          <p:cNvSpPr txBox="1"/>
          <p:nvPr/>
        </p:nvSpPr>
        <p:spPr>
          <a:xfrm>
            <a:off x="1849924" y="4683189"/>
            <a:ext cx="4373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>
                <a:solidFill>
                  <a:schemeClr val="bg1">
                    <a:lumMod val="95000"/>
                  </a:schemeClr>
                </a:solidFill>
              </a:rPr>
              <a:t>Profesores : Daniel Gacitúa / Ricardo Hasbún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E5D9B6F-FE25-D68E-DE73-E661F1C422EE}"/>
              </a:ext>
            </a:extLst>
          </p:cNvPr>
          <p:cNvSpPr txBox="1"/>
          <p:nvPr/>
        </p:nvSpPr>
        <p:spPr>
          <a:xfrm>
            <a:off x="2764325" y="5214266"/>
            <a:ext cx="1963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>
                <a:solidFill>
                  <a:schemeClr val="bg1"/>
                </a:solidFill>
              </a:rPr>
              <a:t>Fecha: 17/12/2025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CFA037B-8832-7E8A-742C-5BF248F7A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47141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876E22-5BDB-E0A7-995D-C0F9348EC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1333" y="365125"/>
            <a:ext cx="2989333" cy="1018613"/>
          </a:xfrm>
        </p:spPr>
        <p:txBody>
          <a:bodyPr>
            <a:normAutofit/>
          </a:bodyPr>
          <a:lstStyle/>
          <a:p>
            <a:r>
              <a:rPr lang="es-CL" sz="4000" b="1" u="sng" dirty="0"/>
              <a:t>Índice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0F6D33-5353-2553-3AB6-C32C242E8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9263" y="1429112"/>
            <a:ext cx="10515600" cy="4351338"/>
          </a:xfrm>
        </p:spPr>
        <p:txBody>
          <a:bodyPr>
            <a:normAutofit fontScale="62500" lnSpcReduction="20000"/>
          </a:bodyPr>
          <a:lstStyle/>
          <a:p>
            <a:r>
              <a:rPr lang="es-CL" dirty="0"/>
              <a:t>1.Introduccion. </a:t>
            </a:r>
          </a:p>
          <a:p>
            <a:r>
              <a:rPr lang="es-CL" dirty="0"/>
              <a:t>2.Objetivos.</a:t>
            </a:r>
          </a:p>
          <a:p>
            <a:r>
              <a:rPr lang="es-CL" dirty="0"/>
              <a:t>3.Metodologia usada.</a:t>
            </a:r>
          </a:p>
          <a:p>
            <a:r>
              <a:rPr lang="es-CL" dirty="0"/>
              <a:t>4.Metodologia Scrum</a:t>
            </a:r>
          </a:p>
          <a:p>
            <a:r>
              <a:rPr lang="es-CL" dirty="0"/>
              <a:t>5.Backlog y actividades </a:t>
            </a:r>
          </a:p>
          <a:p>
            <a:r>
              <a:rPr lang="es-CL" dirty="0"/>
              <a:t>6.Especificación de requisitos </a:t>
            </a:r>
          </a:p>
          <a:p>
            <a:r>
              <a:rPr lang="es-CL" dirty="0"/>
              <a:t>7.Arquitectura del sistema </a:t>
            </a:r>
          </a:p>
          <a:p>
            <a:r>
              <a:rPr lang="es-CL" dirty="0"/>
              <a:t>8.Funcionamientos y componentes.</a:t>
            </a:r>
          </a:p>
          <a:p>
            <a:r>
              <a:rPr lang="es-CL" dirty="0"/>
              <a:t>9.Diagramas UML y Clases.</a:t>
            </a:r>
          </a:p>
          <a:p>
            <a:r>
              <a:rPr lang="es-CL" dirty="0"/>
              <a:t>10.Mockups</a:t>
            </a:r>
          </a:p>
          <a:p>
            <a:r>
              <a:rPr lang="es-CL" dirty="0"/>
              <a:t>11. Prototipo Maqueta</a:t>
            </a:r>
          </a:p>
          <a:p>
            <a:r>
              <a:rPr lang="es-CL" dirty="0"/>
              <a:t>12. Estructura del Repositorio</a:t>
            </a:r>
          </a:p>
          <a:p>
            <a:r>
              <a:rPr lang="es-CL" dirty="0"/>
              <a:t>13. Conclusión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C9B609F-EEB2-FC27-DA6A-CF8089A8C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5994400"/>
            <a:ext cx="2743200" cy="365125"/>
          </a:xfrm>
        </p:spPr>
        <p:txBody>
          <a:bodyPr/>
          <a:lstStyle/>
          <a:p>
            <a:fld id="{C7916C66-CE7D-49F9-91E1-02E5E62A1EEA}" type="slidenum">
              <a:rPr lang="es-CL" smtClean="0"/>
              <a:t>2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900347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BD9637-1D2D-8CE8-E501-86753CF2C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093" y="1348966"/>
            <a:ext cx="3623570" cy="518311"/>
          </a:xfrm>
        </p:spPr>
        <p:txBody>
          <a:bodyPr>
            <a:normAutofit/>
          </a:bodyPr>
          <a:lstStyle/>
          <a:p>
            <a:r>
              <a:rPr lang="es-CL" sz="2800" b="1" u="sng" dirty="0">
                <a:latin typeface="+mn-lt"/>
              </a:rPr>
              <a:t>Contexto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4EE9DDD-8359-DE30-8BE7-510BB8EEE5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2093" y="2057400"/>
            <a:ext cx="3932237" cy="1608292"/>
          </a:xfrm>
        </p:spPr>
        <p:txBody>
          <a:bodyPr>
            <a:normAutofit/>
          </a:bodyPr>
          <a:lstStyle/>
          <a:p>
            <a:r>
              <a:rPr lang="es-CL" dirty="0"/>
              <a:t>El proyecto aborda la implementación de un sistema mecatrónico que integra tanto hardware como software para monitoreo y análisis de variables físicas</a:t>
            </a:r>
            <a:r>
              <a:rPr lang="es-CL" sz="1800" dirty="0"/>
              <a:t>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BBD45D9-F03D-8FB3-9A01-BA192E15A3BF}"/>
              </a:ext>
            </a:extLst>
          </p:cNvPr>
          <p:cNvSpPr txBox="1"/>
          <p:nvPr/>
        </p:nvSpPr>
        <p:spPr>
          <a:xfrm>
            <a:off x="722093" y="4113588"/>
            <a:ext cx="344899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b="1" u="sng" dirty="0"/>
              <a:t>Enfoque del sprint 1</a:t>
            </a:r>
          </a:p>
          <a:p>
            <a:endParaRPr lang="es-CL" sz="2400" dirty="0"/>
          </a:p>
          <a:p>
            <a:r>
              <a:rPr lang="es-CL" sz="1600" dirty="0"/>
              <a:t>Esta etapa se centra exclusivamente en la definición conceptual y la estructura base del software. No se considera aún la integración física del hardware.</a:t>
            </a:r>
          </a:p>
        </p:txBody>
      </p:sp>
      <p:pic>
        <p:nvPicPr>
          <p:cNvPr id="13" name="Marcador de contenido 9" descr="Un par de personas con instrumentos musicales y micrófonos en un escenario&#10;&#10;El contenido generado por IA puede ser incorrecto.">
            <a:extLst>
              <a:ext uri="{FF2B5EF4-FFF2-40B4-BE49-F238E27FC236}">
                <a16:creationId xmlns:a16="http://schemas.microsoft.com/office/drawing/2014/main" id="{088BF259-3F15-661E-B7BE-0B1D32EDCF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9282" b="22014"/>
          <a:stretch>
            <a:fillRect/>
          </a:stretch>
        </p:blipFill>
        <p:spPr>
          <a:xfrm>
            <a:off x="5983288" y="1992799"/>
            <a:ext cx="4572000" cy="2862877"/>
          </a:xfr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815BD0A4-7096-7FB4-1DF3-EDD4961589D1}"/>
              </a:ext>
            </a:extLst>
          </p:cNvPr>
          <p:cNvSpPr txBox="1"/>
          <p:nvPr/>
        </p:nvSpPr>
        <p:spPr>
          <a:xfrm>
            <a:off x="4421791" y="404602"/>
            <a:ext cx="33484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4000" b="1" dirty="0">
                <a:latin typeface="+mj-lt"/>
              </a:rPr>
              <a:t>1. Introducción 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D8BB93A-A472-3CF5-7DE8-B298AD923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035265"/>
            <a:ext cx="2743200" cy="365125"/>
          </a:xfrm>
        </p:spPr>
        <p:txBody>
          <a:bodyPr/>
          <a:lstStyle/>
          <a:p>
            <a:fld id="{C7916C66-CE7D-49F9-91E1-02E5E62A1EEA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40184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18531F-823A-364E-FBCA-C98FA4325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3724" y="490066"/>
            <a:ext cx="4992152" cy="800564"/>
          </a:xfrm>
        </p:spPr>
        <p:txBody>
          <a:bodyPr>
            <a:normAutofit/>
          </a:bodyPr>
          <a:lstStyle/>
          <a:p>
            <a:r>
              <a:rPr lang="es-CL" sz="4000" b="1" dirty="0"/>
              <a:t>2. Objetivos del sprint.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9582E6-796B-F720-0E0D-94819DF998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585802"/>
          </a:xfrm>
        </p:spPr>
        <p:txBody>
          <a:bodyPr/>
          <a:lstStyle/>
          <a:p>
            <a:r>
              <a:rPr lang="es-CL" u="sng" dirty="0"/>
              <a:t>Objetivo general 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D4DA57E-1EE0-4EB2-49B5-50126303FD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504881"/>
          </a:xfrm>
        </p:spPr>
        <p:txBody>
          <a:bodyPr/>
          <a:lstStyle/>
          <a:p>
            <a:r>
              <a:rPr lang="es-CL" u="sng" dirty="0"/>
              <a:t>Objetivos específicos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456F520-F17D-EBD6-CE29-AE6C48F1092B}"/>
              </a:ext>
            </a:extLst>
          </p:cNvPr>
          <p:cNvSpPr txBox="1"/>
          <p:nvPr/>
        </p:nvSpPr>
        <p:spPr>
          <a:xfrm>
            <a:off x="838200" y="2672114"/>
            <a:ext cx="38228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Definir y diseñar la base del proyecto desde la perspectiva de la Ingeniería de Software, estableciendo los cimientos para el desarrollo futuro.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6F006B0-2C28-E558-2550-A2195F5DFBD8}"/>
              </a:ext>
            </a:extLst>
          </p:cNvPr>
          <p:cNvSpPr txBox="1"/>
          <p:nvPr/>
        </p:nvSpPr>
        <p:spPr>
          <a:xfrm>
            <a:off x="6376227" y="2672114"/>
            <a:ext cx="34313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s-CL" dirty="0"/>
              <a:t>Elaborar la Especificación de Requisitos de Software (SRS).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CL" dirty="0"/>
              <a:t>Diseñar la arquitectura del sistema (MVC).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CL" dirty="0"/>
              <a:t>Establecer la planificación mediante metodología Scrum.</a:t>
            </a:r>
          </a:p>
          <a:p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97124B5-50DA-B571-197A-5A6E2EA3D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025433"/>
            <a:ext cx="2743200" cy="365125"/>
          </a:xfrm>
        </p:spPr>
        <p:txBody>
          <a:bodyPr/>
          <a:lstStyle/>
          <a:p>
            <a:fld id="{C7916C66-CE7D-49F9-91E1-02E5E62A1EEA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0945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679D95-75F9-07D5-7D02-E0581E66E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7357" y="670799"/>
            <a:ext cx="4957285" cy="695915"/>
          </a:xfrm>
        </p:spPr>
        <p:txBody>
          <a:bodyPr>
            <a:noAutofit/>
          </a:bodyPr>
          <a:lstStyle/>
          <a:p>
            <a:r>
              <a:rPr lang="es-CL" sz="4000" b="1" dirty="0"/>
              <a:t>3. Metodología usada 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80D84B9-6FE5-8BC8-E83F-8B65F56094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88935" y="2172713"/>
            <a:ext cx="3932237" cy="483499"/>
          </a:xfrm>
        </p:spPr>
        <p:txBody>
          <a:bodyPr>
            <a:normAutofit/>
          </a:bodyPr>
          <a:lstStyle/>
          <a:p>
            <a:r>
              <a:rPr lang="es-CL" sz="1800" u="sng" dirty="0"/>
              <a:t>Scrum y gestión ágil: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7B1BC2C-2F9B-12A1-148B-8B3AE9214996}"/>
              </a:ext>
            </a:extLst>
          </p:cNvPr>
          <p:cNvSpPr txBox="1"/>
          <p:nvPr/>
        </p:nvSpPr>
        <p:spPr>
          <a:xfrm>
            <a:off x="588935" y="2511286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200" dirty="0"/>
              <a:t>El desarrollo se guía por el marco de trabajo Scrum, permitiendo una adaptación iterativa e incremental.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B8D3C9F-65F9-EAEC-808D-6B650E6B3825}"/>
              </a:ext>
            </a:extLst>
          </p:cNvPr>
          <p:cNvSpPr txBox="1"/>
          <p:nvPr/>
        </p:nvSpPr>
        <p:spPr>
          <a:xfrm>
            <a:off x="588935" y="4014286"/>
            <a:ext cx="314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u="sng" dirty="0"/>
              <a:t>Herramientas de gestión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77B2380-9C3E-6A1B-820A-6A17890A679C}"/>
              </a:ext>
            </a:extLst>
          </p:cNvPr>
          <p:cNvSpPr txBox="1"/>
          <p:nvPr/>
        </p:nvSpPr>
        <p:spPr>
          <a:xfrm>
            <a:off x="532291" y="4383618"/>
            <a:ext cx="495728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200" dirty="0"/>
              <a:t>Product Backlog: Visión completa de los requisitos.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200" dirty="0"/>
              <a:t>Sprint Backlog: Tareas específicas de este ciclo (20%).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200" dirty="0"/>
              <a:t>Tablero Físico: Para la visualización y control del flujo de trabajo del equipo.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L" sz="1400" dirty="0" err="1"/>
          </a:p>
          <a:p>
            <a:endParaRPr lang="es-CL" sz="1400" dirty="0" err="1"/>
          </a:p>
          <a:p>
            <a:endParaRPr lang="es-CL" sz="1200" dirty="0" err="1"/>
          </a:p>
          <a:p>
            <a:endParaRPr lang="es-CL" sz="1200" dirty="0" err="1"/>
          </a:p>
        </p:txBody>
      </p:sp>
      <p:pic>
        <p:nvPicPr>
          <p:cNvPr id="11" name="Imagen 10" descr="Diagrama&#10;&#10;El contenido generado por IA puede ser incorrecto.">
            <a:extLst>
              <a:ext uri="{FF2B5EF4-FFF2-40B4-BE49-F238E27FC236}">
                <a16:creationId xmlns:a16="http://schemas.microsoft.com/office/drawing/2014/main" id="{A798F0EE-0F26-2425-F074-8B250DAB5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9576" y="2218699"/>
            <a:ext cx="6046815" cy="2420601"/>
          </a:xfrm>
          <a:prstGeom prst="rect">
            <a:avLst/>
          </a:prstGeom>
        </p:spPr>
      </p:pic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C699865-F207-5286-7ACC-70B028030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5986104"/>
            <a:ext cx="2743200" cy="365125"/>
          </a:xfrm>
        </p:spPr>
        <p:txBody>
          <a:bodyPr/>
          <a:lstStyle/>
          <a:p>
            <a:fld id="{C7916C66-CE7D-49F9-91E1-02E5E62A1EEA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82600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72A88B-8AA7-A36D-018D-72B161DC7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8485" y="365125"/>
            <a:ext cx="4702629" cy="1325563"/>
          </a:xfrm>
        </p:spPr>
        <p:txBody>
          <a:bodyPr>
            <a:normAutofit/>
          </a:bodyPr>
          <a:lstStyle/>
          <a:p>
            <a:r>
              <a:rPr lang="es-MX" sz="4000" b="1" dirty="0"/>
              <a:t>4. Metodología scrum</a:t>
            </a:r>
            <a:endParaRPr lang="es-CL" sz="4000" b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E7F0BEB-0C9A-3BAC-C24A-EF4EBE1D33DE}"/>
              </a:ext>
            </a:extLst>
          </p:cNvPr>
          <p:cNvSpPr txBox="1"/>
          <p:nvPr/>
        </p:nvSpPr>
        <p:spPr>
          <a:xfrm>
            <a:off x="566059" y="2100943"/>
            <a:ext cx="2438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/>
              <a:t>¿Por que Scrum? </a:t>
            </a:r>
            <a:endParaRPr lang="es-CL" sz="20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6D8459C-BEC6-12BD-1CF5-D9AADCED2EAC}"/>
              </a:ext>
            </a:extLst>
          </p:cNvPr>
          <p:cNvSpPr txBox="1"/>
          <p:nvPr/>
        </p:nvSpPr>
        <p:spPr>
          <a:xfrm>
            <a:off x="566059" y="2645229"/>
            <a:ext cx="51489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Fue seleccionado debido a la naturaleza interdisciplinaria del proyecto. Permitiendo iteraciones cortas (</a:t>
            </a:r>
            <a:r>
              <a:rPr lang="es-MX" dirty="0" err="1"/>
              <a:t>Sprints</a:t>
            </a:r>
            <a:r>
              <a:rPr lang="es-MX" dirty="0"/>
              <a:t>) para ir adaptando el software a los cambios imprevistos que surjan del comportamiento físico de la bobina. </a:t>
            </a:r>
            <a:endParaRPr lang="es-CL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B0B9CF0-4296-0AB7-407F-FFBAB1310BF3}"/>
              </a:ext>
            </a:extLst>
          </p:cNvPr>
          <p:cNvSpPr txBox="1"/>
          <p:nvPr/>
        </p:nvSpPr>
        <p:spPr>
          <a:xfrm>
            <a:off x="6477000" y="2645229"/>
            <a:ext cx="439782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s-MX" dirty="0"/>
              <a:t>Product </a:t>
            </a:r>
            <a:r>
              <a:rPr lang="es-MX" dirty="0" err="1"/>
              <a:t>Owner</a:t>
            </a:r>
            <a:r>
              <a:rPr lang="es-MX" dirty="0"/>
              <a:t>: </a:t>
            </a:r>
            <a:r>
              <a:rPr lang="es-MX" dirty="0" err="1"/>
              <a:t>Matias</a:t>
            </a:r>
            <a:r>
              <a:rPr lang="es-MX" dirty="0"/>
              <a:t> Kohl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s-MX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s-MX" dirty="0"/>
              <a:t>Scrum Master: Alejandro </a:t>
            </a:r>
            <a:r>
              <a:rPr lang="es-MX" dirty="0" err="1"/>
              <a:t>Alarcon</a:t>
            </a:r>
            <a:endParaRPr lang="es-MX" dirty="0"/>
          </a:p>
          <a:p>
            <a:r>
              <a:rPr lang="es-MX" dirty="0"/>
              <a:t>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s-MX" dirty="0" err="1"/>
              <a:t>Development</a:t>
            </a:r>
            <a:r>
              <a:rPr lang="es-MX" dirty="0"/>
              <a:t> </a:t>
            </a:r>
            <a:r>
              <a:rPr lang="es-MX" dirty="0" err="1"/>
              <a:t>Team</a:t>
            </a:r>
            <a:r>
              <a:rPr lang="es-MX" dirty="0"/>
              <a:t>: Daniel y Pablo </a:t>
            </a:r>
            <a:endParaRPr lang="es-CL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35E93A8-DBE0-904C-32AB-61A04AED6496}"/>
              </a:ext>
            </a:extLst>
          </p:cNvPr>
          <p:cNvSpPr txBox="1"/>
          <p:nvPr/>
        </p:nvSpPr>
        <p:spPr>
          <a:xfrm>
            <a:off x="6477000" y="2100943"/>
            <a:ext cx="18321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000" dirty="0"/>
              <a:t>Roles asignados</a:t>
            </a:r>
            <a:endParaRPr lang="es-CL" sz="2000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80A2329-6E79-6963-0747-2B3E2CAF9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5995936"/>
            <a:ext cx="2743200" cy="365125"/>
          </a:xfrm>
        </p:spPr>
        <p:txBody>
          <a:bodyPr/>
          <a:lstStyle/>
          <a:p>
            <a:fld id="{C7916C66-CE7D-49F9-91E1-02E5E62A1EEA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19521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9B1A98-D93E-B598-5702-0D347DF064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68122"/>
            <a:ext cx="9144000" cy="810306"/>
          </a:xfrm>
        </p:spPr>
        <p:txBody>
          <a:bodyPr>
            <a:normAutofit/>
          </a:bodyPr>
          <a:lstStyle/>
          <a:p>
            <a:r>
              <a:rPr lang="es-MX" sz="4000" b="1" dirty="0"/>
              <a:t>5. Backlog y actividades</a:t>
            </a:r>
            <a:endParaRPr lang="es-CL" sz="4000" b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3280A7C-E40C-127D-C231-421C1C673A76}"/>
              </a:ext>
            </a:extLst>
          </p:cNvPr>
          <p:cNvSpPr txBox="1"/>
          <p:nvPr/>
        </p:nvSpPr>
        <p:spPr>
          <a:xfrm>
            <a:off x="213527" y="1974534"/>
            <a:ext cx="4338376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/>
              <a:t>Sprint 1:</a:t>
            </a:r>
          </a:p>
          <a:p>
            <a:r>
              <a:rPr lang="es-MX" sz="2400" dirty="0"/>
              <a:t>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CL" altLang="es-CL" dirty="0">
                <a:latin typeface="Arial" panose="020B0604020202020204" pitchFamily="34" charset="0"/>
              </a:rPr>
              <a:t>Definición del documento SRS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CL" altLang="es-CL" dirty="0">
                <a:latin typeface="Arial" panose="020B0604020202020204" pitchFamily="34" charset="0"/>
              </a:rPr>
              <a:t>Diseño de la arquitectura MVC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CL" altLang="es-CL" dirty="0">
                <a:latin typeface="Arial" panose="020B0604020202020204" pitchFamily="34" charset="0"/>
              </a:rPr>
              <a:t>Elaboración del diagrama UML de clases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CL" altLang="es-CL" dirty="0">
                <a:latin typeface="Arial" panose="020B0604020202020204" pitchFamily="34" charset="0"/>
              </a:rPr>
              <a:t>Definición del </a:t>
            </a:r>
            <a:r>
              <a:rPr lang="es-CL" altLang="es-CL" dirty="0" err="1">
                <a:latin typeface="Arial" panose="020B0604020202020204" pitchFamily="34" charset="0"/>
              </a:rPr>
              <a:t>Product</a:t>
            </a:r>
            <a:r>
              <a:rPr lang="es-CL" altLang="es-CL" dirty="0">
                <a:latin typeface="Arial" panose="020B0604020202020204" pitchFamily="34" charset="0"/>
              </a:rPr>
              <a:t> Backlog y Sprint Backlog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CL" altLang="es-CL" dirty="0">
                <a:latin typeface="Arial" panose="020B0604020202020204" pitchFamily="34" charset="0"/>
              </a:rPr>
              <a:t>Definición de la estructura base del repositorio GitHub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CL" altLang="es-CL" dirty="0">
                <a:latin typeface="Arial" panose="020B0604020202020204" pitchFamily="34" charset="0"/>
              </a:rPr>
              <a:t>Definición conceptual del hardware y variables a medir</a:t>
            </a:r>
            <a:endParaRPr lang="es-MX" sz="1600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4518C69-49A9-C702-6227-A3B7FD5E4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5929087"/>
            <a:ext cx="2743200" cy="365125"/>
          </a:xfrm>
        </p:spPr>
        <p:txBody>
          <a:bodyPr/>
          <a:lstStyle/>
          <a:p>
            <a:fld id="{C7916C66-CE7D-49F9-91E1-02E5E62A1EEA}" type="slidenum">
              <a:rPr lang="es-CL" smtClean="0"/>
              <a:t>7</a:t>
            </a:fld>
            <a:endParaRPr lang="es-CL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9B70EC1-D674-786D-1A5B-F15F9B5CE1BC}"/>
              </a:ext>
            </a:extLst>
          </p:cNvPr>
          <p:cNvSpPr txBox="1"/>
          <p:nvPr/>
        </p:nvSpPr>
        <p:spPr>
          <a:xfrm>
            <a:off x="4551903" y="1974534"/>
            <a:ext cx="356716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/>
              <a:t>En proceso:</a:t>
            </a:r>
          </a:p>
          <a:p>
            <a:endParaRPr lang="es-MX" sz="2400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CL" altLang="es-CL" dirty="0">
                <a:latin typeface="Arial" panose="020B0604020202020204" pitchFamily="34" charset="0"/>
              </a:rPr>
              <a:t>Diseño conceptual de la interfaz gráfica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CL" altLang="es-CL" dirty="0">
                <a:latin typeface="Arial" panose="020B0604020202020204" pitchFamily="34" charset="0"/>
              </a:rPr>
              <a:t>Definición del flujo de datos sensor–modelo–vista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CL" altLang="es-CL" dirty="0">
                <a:latin typeface="Arial" panose="020B0604020202020204" pitchFamily="34" charset="0"/>
              </a:rPr>
              <a:t>Análisis preliminar de ecuaciones y variables físicas</a:t>
            </a:r>
          </a:p>
          <a:p>
            <a:endParaRPr lang="es-MX" sz="2400" dirty="0"/>
          </a:p>
          <a:p>
            <a:endParaRPr lang="es-MX" sz="24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s-MX" sz="1600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43132312-2B9E-9F24-C32E-EAFD5C13C0D6}"/>
              </a:ext>
            </a:extLst>
          </p:cNvPr>
          <p:cNvSpPr txBox="1"/>
          <p:nvPr/>
        </p:nvSpPr>
        <p:spPr>
          <a:xfrm>
            <a:off x="8209504" y="1974534"/>
            <a:ext cx="376896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/>
              <a:t>Sprint 2: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CL" altLang="es-CL" dirty="0">
                <a:latin typeface="Arial" panose="020B0604020202020204" pitchFamily="34" charset="0"/>
              </a:rPr>
              <a:t>Construcción física del hardware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CL" altLang="es-CL" dirty="0">
                <a:latin typeface="Arial" panose="020B0604020202020204" pitchFamily="34" charset="0"/>
              </a:rPr>
              <a:t>Integración del microcontrolador con sensores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CL" altLang="es-CL" dirty="0">
                <a:latin typeface="Arial" panose="020B0604020202020204" pitchFamily="34" charset="0"/>
              </a:rPr>
              <a:t>Pruebas físicas del sistema de medición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CL" altLang="es-CL" dirty="0">
                <a:latin typeface="Arial" panose="020B0604020202020204" pitchFamily="34" charset="0"/>
              </a:rPr>
              <a:t>Calibración de sensores RF y fotodiodo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CL" altLang="es-CL" dirty="0">
                <a:latin typeface="Arial" panose="020B0604020202020204" pitchFamily="34" charset="0"/>
              </a:rPr>
              <a:t>Integración hardware–software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CL" altLang="es-CL" dirty="0">
                <a:latin typeface="Arial" panose="020B0604020202020204" pitchFamily="34" charset="0"/>
              </a:rPr>
              <a:t>Validación experimental del sistema</a:t>
            </a:r>
            <a:endParaRPr lang="es-MX" dirty="0"/>
          </a:p>
          <a:p>
            <a:endParaRPr lang="es-MX" sz="24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s-MX" sz="1600" dirty="0"/>
          </a:p>
        </p:txBody>
      </p:sp>
    </p:spTree>
    <p:extLst>
      <p:ext uri="{BB962C8B-B14F-4D97-AF65-F5344CB8AC3E}">
        <p14:creationId xmlns:p14="http://schemas.microsoft.com/office/powerpoint/2010/main" val="237565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C8EA03-4788-D5B6-0618-17E144AA5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6097" y="355600"/>
            <a:ext cx="8042955" cy="1325563"/>
          </a:xfrm>
        </p:spPr>
        <p:txBody>
          <a:bodyPr>
            <a:normAutofit/>
          </a:bodyPr>
          <a:lstStyle/>
          <a:p>
            <a:r>
              <a:rPr lang="es-MX" sz="4000" b="1" dirty="0"/>
              <a:t>6. Especificación de requisitos (SRS)</a:t>
            </a:r>
            <a:endParaRPr lang="es-CL" sz="4000" b="1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BE0A0B4-52F6-0079-F091-B39342F71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4015241" cy="823912"/>
          </a:xfrm>
        </p:spPr>
        <p:txBody>
          <a:bodyPr/>
          <a:lstStyle/>
          <a:p>
            <a:r>
              <a:rPr lang="es-MX" dirty="0"/>
              <a:t>Requisitos funcionales</a:t>
            </a:r>
            <a:endParaRPr lang="es-CL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3D2607C-4A1E-0BFE-9AA6-77DF414EDE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71635" y="2983039"/>
            <a:ext cx="1136308" cy="25538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dirty="0"/>
              <a:t>ID</a:t>
            </a:r>
          </a:p>
          <a:p>
            <a:pPr marL="0" indent="0">
              <a:buNone/>
            </a:pPr>
            <a:r>
              <a:rPr lang="es-MX" dirty="0"/>
              <a:t>RF-01</a:t>
            </a:r>
          </a:p>
          <a:p>
            <a:pPr marL="0" indent="0">
              <a:buNone/>
            </a:pPr>
            <a:r>
              <a:rPr lang="es-MX" dirty="0"/>
              <a:t>RF-02</a:t>
            </a:r>
          </a:p>
          <a:p>
            <a:pPr marL="0" indent="0">
              <a:buNone/>
            </a:pPr>
            <a:r>
              <a:rPr lang="es-MX" dirty="0"/>
              <a:t>RF-03</a:t>
            </a:r>
          </a:p>
          <a:p>
            <a:pPr marL="0" indent="0">
              <a:buNone/>
            </a:pPr>
            <a:r>
              <a:rPr lang="es-MX" dirty="0"/>
              <a:t>RF-04 </a:t>
            </a:r>
            <a:endParaRPr lang="es-CL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2FB9433-435D-4B22-757F-56C297A758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72943" y="1681163"/>
            <a:ext cx="4136571" cy="823912"/>
          </a:xfrm>
        </p:spPr>
        <p:txBody>
          <a:bodyPr/>
          <a:lstStyle/>
          <a:p>
            <a:r>
              <a:rPr lang="es-MX" dirty="0"/>
              <a:t>Requisitos no funcionales</a:t>
            </a:r>
            <a:endParaRPr lang="es-CL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B28B46F-430C-FE23-A486-537C3961CC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72943" y="3006726"/>
            <a:ext cx="1382484" cy="2848102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ID</a:t>
            </a:r>
          </a:p>
          <a:p>
            <a:pPr marL="0" indent="0">
              <a:buNone/>
            </a:pPr>
            <a:r>
              <a:rPr lang="es-MX" dirty="0"/>
              <a:t>RNF-01</a:t>
            </a:r>
          </a:p>
          <a:p>
            <a:pPr marL="0" indent="0">
              <a:buNone/>
            </a:pPr>
            <a:r>
              <a:rPr lang="es-MX" dirty="0"/>
              <a:t>RNF-02</a:t>
            </a:r>
          </a:p>
          <a:p>
            <a:pPr marL="0" indent="0">
              <a:buNone/>
            </a:pPr>
            <a:r>
              <a:rPr lang="es-MX" dirty="0"/>
              <a:t>RNF-03</a:t>
            </a:r>
          </a:p>
          <a:p>
            <a:pPr marL="0" indent="0">
              <a:buNone/>
            </a:pPr>
            <a:r>
              <a:rPr lang="es-MX" dirty="0"/>
              <a:t>RNF-04</a:t>
            </a:r>
            <a:endParaRPr lang="es-CL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EADB340-5520-E77A-1675-7FEBC53A42C5}"/>
              </a:ext>
            </a:extLst>
          </p:cNvPr>
          <p:cNvSpPr txBox="1"/>
          <p:nvPr/>
        </p:nvSpPr>
        <p:spPr>
          <a:xfrm>
            <a:off x="1371603" y="2942174"/>
            <a:ext cx="21335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800" dirty="0"/>
              <a:t>Descripción </a:t>
            </a:r>
            <a:endParaRPr lang="es-CL" sz="28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BA444D1-7BC5-08B8-BFC8-322EE44083C7}"/>
              </a:ext>
            </a:extLst>
          </p:cNvPr>
          <p:cNvSpPr txBox="1"/>
          <p:nvPr/>
        </p:nvSpPr>
        <p:spPr>
          <a:xfrm>
            <a:off x="1407943" y="3472596"/>
            <a:ext cx="5105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El sistema debe leer datos del sensor. </a:t>
            </a:r>
          </a:p>
          <a:p>
            <a:endParaRPr lang="es-MX" dirty="0"/>
          </a:p>
          <a:p>
            <a:r>
              <a:rPr lang="es-MX" dirty="0"/>
              <a:t>Visualización grafica en tiempo real (V vs t).</a:t>
            </a:r>
          </a:p>
          <a:p>
            <a:endParaRPr lang="es-MX" dirty="0"/>
          </a:p>
          <a:p>
            <a:r>
              <a:rPr lang="es-MX" dirty="0"/>
              <a:t>Almacenamiento de mediciones en archivo local/BD.</a:t>
            </a:r>
          </a:p>
          <a:p>
            <a:endParaRPr lang="es-MX" dirty="0"/>
          </a:p>
          <a:p>
            <a:r>
              <a:rPr lang="es-MX" dirty="0"/>
              <a:t>Control manual del ángulo del servomotor. </a:t>
            </a:r>
            <a:endParaRPr lang="es-CL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F2CEA6D-D3F8-29EE-0AE2-A8652C9CD96C}"/>
              </a:ext>
            </a:extLst>
          </p:cNvPr>
          <p:cNvSpPr txBox="1"/>
          <p:nvPr/>
        </p:nvSpPr>
        <p:spPr>
          <a:xfrm>
            <a:off x="8215027" y="3006726"/>
            <a:ext cx="18854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800" dirty="0"/>
              <a:t>Descripción</a:t>
            </a:r>
            <a:endParaRPr lang="es-CL" sz="28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0192BF3-7683-B693-ABEA-73871C0A28E8}"/>
              </a:ext>
            </a:extLst>
          </p:cNvPr>
          <p:cNvSpPr txBox="1"/>
          <p:nvPr/>
        </p:nvSpPr>
        <p:spPr>
          <a:xfrm>
            <a:off x="8215027" y="3505548"/>
            <a:ext cx="413657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Desarrollado en lenguaje Python.</a:t>
            </a:r>
          </a:p>
          <a:p>
            <a:endParaRPr lang="es-MX" dirty="0"/>
          </a:p>
          <a:p>
            <a:r>
              <a:rPr lang="es-MX" dirty="0"/>
              <a:t>Arquitectura obligatoria: MVC.</a:t>
            </a:r>
          </a:p>
          <a:p>
            <a:endParaRPr lang="es-MX" dirty="0"/>
          </a:p>
          <a:p>
            <a:r>
              <a:rPr lang="es-MX" dirty="0"/>
              <a:t>Latencia de visualización menor a 1s.</a:t>
            </a:r>
          </a:p>
          <a:p>
            <a:endParaRPr lang="es-MX" dirty="0"/>
          </a:p>
          <a:p>
            <a:r>
              <a:rPr lang="es-MX" dirty="0"/>
              <a:t>Interfaz intuitiva para usuarios.</a:t>
            </a:r>
            <a:endParaRPr lang="es-CL" dirty="0"/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8DED2999-F680-D170-F777-DCD5ECE22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035695"/>
            <a:ext cx="2743200" cy="365125"/>
          </a:xfrm>
        </p:spPr>
        <p:txBody>
          <a:bodyPr/>
          <a:lstStyle/>
          <a:p>
            <a:fld id="{C7916C66-CE7D-49F9-91E1-02E5E62A1EEA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01323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82F89E-0337-3A70-9293-7E9531593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4485" y="334752"/>
            <a:ext cx="5563029" cy="1075943"/>
          </a:xfrm>
        </p:spPr>
        <p:txBody>
          <a:bodyPr>
            <a:noAutofit/>
          </a:bodyPr>
          <a:lstStyle/>
          <a:p>
            <a:r>
              <a:rPr lang="es-CL" sz="4000" b="1" dirty="0"/>
              <a:t>7. Arquitectura del sistema 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3E388B8-9994-AC89-E4AA-AD5EE61641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7095" y="2400670"/>
            <a:ext cx="4238530" cy="766720"/>
          </a:xfrm>
        </p:spPr>
        <p:txBody>
          <a:bodyPr/>
          <a:lstStyle/>
          <a:p>
            <a:r>
              <a:rPr lang="es-CL" u="sng" cap="all" dirty="0"/>
              <a:t>Patrón Modelo-Vista-Controlador (MVC)</a:t>
            </a:r>
          </a:p>
          <a:p>
            <a:endParaRPr lang="es-CL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CBD3B6B-1585-336A-F322-80D58CFE0FF4}"/>
              </a:ext>
            </a:extLst>
          </p:cNvPr>
          <p:cNvSpPr txBox="1"/>
          <p:nvPr/>
        </p:nvSpPr>
        <p:spPr>
          <a:xfrm>
            <a:off x="589108" y="2905780"/>
            <a:ext cx="48714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dirty="0"/>
              <a:t>Se eligió esta arquitectura para separar la lógica de adquisición de datos de la interfaz de usuario, facilitando la mantenibilidad.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CBBAA03-BBD8-E873-6DFF-7F91AC90B2D2}"/>
              </a:ext>
            </a:extLst>
          </p:cNvPr>
          <p:cNvSpPr txBox="1"/>
          <p:nvPr/>
        </p:nvSpPr>
        <p:spPr>
          <a:xfrm>
            <a:off x="313804" y="4100082"/>
            <a:ext cx="578219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s-CL" sz="2000" b="1" dirty="0"/>
              <a:t>Modelo:</a:t>
            </a:r>
            <a:r>
              <a:rPr lang="es-CL" sz="2000" dirty="0"/>
              <a:t> Procesa los datos crudos de los sensores.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s-CL" sz="2000" b="1" dirty="0"/>
              <a:t>Vista:</a:t>
            </a:r>
            <a:r>
              <a:rPr lang="es-CL" sz="2000" dirty="0"/>
              <a:t> Muestra gráficos en tiempo real.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s-CL" sz="2000" b="1" dirty="0"/>
              <a:t>Controlador:</a:t>
            </a:r>
            <a:r>
              <a:rPr lang="es-CL" sz="2000" dirty="0"/>
              <a:t> Gestiona la comunicación entre el usuario y el sistema.</a:t>
            </a:r>
          </a:p>
          <a:p>
            <a:endParaRPr lang="es-CL" dirty="0"/>
          </a:p>
        </p:txBody>
      </p:sp>
      <p:pic>
        <p:nvPicPr>
          <p:cNvPr id="17" name="Gráfico 16">
            <a:extLst>
              <a:ext uri="{FF2B5EF4-FFF2-40B4-BE49-F238E27FC236}">
                <a16:creationId xmlns:a16="http://schemas.microsoft.com/office/drawing/2014/main" id="{22EE53D5-B4B3-8D9A-1577-3108700963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2748" y="2507479"/>
            <a:ext cx="4741918" cy="2230622"/>
          </a:xfrm>
          <a:prstGeom prst="rect">
            <a:avLst/>
          </a:prstGeom>
        </p:spPr>
      </p:pic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930A4AA-CBD3-FCEC-19E5-A0BD16800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5991225"/>
            <a:ext cx="2743200" cy="365125"/>
          </a:xfrm>
        </p:spPr>
        <p:txBody>
          <a:bodyPr/>
          <a:lstStyle/>
          <a:p>
            <a:fld id="{C7916C66-CE7D-49F9-91E1-02E5E62A1EEA}" type="slidenum">
              <a:rPr lang="es-CL" smtClean="0"/>
              <a:t>9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131433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8F29C6-0209-6804-F308-F16BB50B8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3366" y="303338"/>
            <a:ext cx="7297667" cy="1325563"/>
          </a:xfrm>
        </p:spPr>
        <p:txBody>
          <a:bodyPr>
            <a:normAutofit/>
          </a:bodyPr>
          <a:lstStyle/>
          <a:p>
            <a:r>
              <a:rPr lang="es-CL" sz="4000" b="1" dirty="0"/>
              <a:t>8. Funcionamiento y componentes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B0363E8-B596-9B34-22FC-C28C7FA4369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CL" u="sng" dirty="0"/>
              <a:t>Componentes</a:t>
            </a:r>
          </a:p>
          <a:p>
            <a:pPr marL="0" indent="0">
              <a:buNone/>
            </a:pPr>
            <a:endParaRPr lang="es-CL" u="sng" dirty="0"/>
          </a:p>
          <a:p>
            <a:r>
              <a:rPr lang="es-CL" sz="1900" dirty="0"/>
              <a:t>Sensor RF: Mide campo electromagnético.</a:t>
            </a:r>
          </a:p>
          <a:p>
            <a:r>
              <a:rPr lang="es-CL" sz="1900" dirty="0"/>
              <a:t>Fotodiodo: Mide intensidad lumínica.</a:t>
            </a:r>
          </a:p>
          <a:p>
            <a:r>
              <a:rPr lang="es-CL" sz="1900" dirty="0"/>
              <a:t>Microcontrolador: Adquisición de datos.</a:t>
            </a:r>
          </a:p>
          <a:p>
            <a:r>
              <a:rPr lang="es-CL" sz="1900" dirty="0"/>
              <a:t>Actuador (Servo): Posicionamiento del sensor.</a:t>
            </a:r>
          </a:p>
          <a:p>
            <a:r>
              <a:rPr lang="es-CL" sz="1900" dirty="0"/>
              <a:t>Software (PC): Visualización y control.</a:t>
            </a:r>
          </a:p>
          <a:p>
            <a:pPr marL="0" indent="0">
              <a:buNone/>
            </a:pPr>
            <a:endParaRPr lang="es-CL" u="sng" dirty="0"/>
          </a:p>
          <a:p>
            <a:endParaRPr lang="es-CL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AB4926E-379B-D807-C495-4D330F66C1A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CL" u="sng" dirty="0"/>
              <a:t>Flujo de funcionamiento </a:t>
            </a:r>
          </a:p>
          <a:p>
            <a:pPr marL="0" indent="0">
              <a:buNone/>
            </a:pPr>
            <a:endParaRPr lang="es-CL" u="sng" dirty="0"/>
          </a:p>
          <a:p>
            <a:r>
              <a:rPr lang="es-CL" sz="1800" dirty="0"/>
              <a:t>Adquisición: Sensores leen variables físicas.</a:t>
            </a:r>
          </a:p>
          <a:p>
            <a:r>
              <a:rPr lang="es-CL" sz="1800" dirty="0"/>
              <a:t>Procesamiento: Microcontrolador digitaliza y envía.</a:t>
            </a:r>
          </a:p>
          <a:p>
            <a:r>
              <a:rPr lang="es-CL" sz="1800" dirty="0"/>
              <a:t>Gestión: Software recibe y almacena (Modelo).</a:t>
            </a:r>
          </a:p>
          <a:p>
            <a:r>
              <a:rPr lang="es-CL" sz="1800" dirty="0"/>
              <a:t>Visualización: Interfaz grafica datos en TR (Vista).</a:t>
            </a:r>
          </a:p>
          <a:p>
            <a:pPr marL="0" indent="0">
              <a:buNone/>
            </a:pPr>
            <a:endParaRPr lang="es-CL" u="sng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02BA5C6-4804-9819-8885-BD488BFDC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5913898"/>
            <a:ext cx="2743200" cy="365125"/>
          </a:xfrm>
        </p:spPr>
        <p:txBody>
          <a:bodyPr/>
          <a:lstStyle/>
          <a:p>
            <a:fld id="{C7916C66-CE7D-49F9-91E1-02E5E62A1EEA}" type="slidenum">
              <a:rPr lang="es-CL" smtClean="0"/>
              <a:t>10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23269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2ADF36-C948-EE5F-32BD-BA5ABD32E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763" y="3034219"/>
            <a:ext cx="3932237" cy="789562"/>
          </a:xfrm>
        </p:spPr>
        <p:txBody>
          <a:bodyPr>
            <a:normAutofit/>
          </a:bodyPr>
          <a:lstStyle/>
          <a:p>
            <a:r>
              <a:rPr lang="es-CL" sz="4000" b="1" dirty="0"/>
              <a:t>Diagrama UML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3E4E056-81CC-0E07-502A-643CE4AA9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396" y="926816"/>
            <a:ext cx="8274873" cy="5004367"/>
          </a:xfrm>
          <a:prstGeom prst="rect">
            <a:avLst/>
          </a:prstGeom>
        </p:spPr>
      </p:pic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5D303FF-EDF2-0697-5E70-164BAC93D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5931183"/>
            <a:ext cx="2743200" cy="365125"/>
          </a:xfrm>
        </p:spPr>
        <p:txBody>
          <a:bodyPr/>
          <a:lstStyle/>
          <a:p>
            <a:fld id="{C7916C66-CE7D-49F9-91E1-02E5E62A1EEA}" type="slidenum">
              <a:rPr lang="es-CL" smtClean="0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257827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FEA53D-1FB5-2C3E-C48F-569EB509D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7314" y="327479"/>
            <a:ext cx="2917371" cy="1325563"/>
          </a:xfrm>
        </p:spPr>
        <p:txBody>
          <a:bodyPr/>
          <a:lstStyle/>
          <a:p>
            <a:r>
              <a:rPr lang="es-MX" b="1" dirty="0"/>
              <a:t>Mockup</a:t>
            </a:r>
            <a:endParaRPr lang="es-CL" b="1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4B0FAC1-67BB-71E3-0857-F8C07057A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193" y="1528988"/>
            <a:ext cx="8891613" cy="5001533"/>
          </a:xfrm>
          <a:prstGeom prst="rect">
            <a:avLst/>
          </a:prstGeom>
        </p:spPr>
      </p:pic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D260619-91F0-050B-0978-DAA6C05BF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5913898"/>
            <a:ext cx="2743200" cy="365125"/>
          </a:xfrm>
        </p:spPr>
        <p:txBody>
          <a:bodyPr/>
          <a:lstStyle/>
          <a:p>
            <a:fld id="{C7916C66-CE7D-49F9-91E1-02E5E62A1EEA}" type="slidenum">
              <a:rPr lang="es-CL" smtClean="0"/>
              <a:t>12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47046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319A9-C8F5-3C76-D39E-0BDD39711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20F096-C4A0-31DB-137F-F6C46A38C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7314" y="327479"/>
            <a:ext cx="2917371" cy="1325563"/>
          </a:xfrm>
        </p:spPr>
        <p:txBody>
          <a:bodyPr/>
          <a:lstStyle/>
          <a:p>
            <a:r>
              <a:rPr lang="es-MX" b="1" dirty="0"/>
              <a:t>Mockup</a:t>
            </a:r>
            <a:endParaRPr lang="es-CL" b="1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9D6F8F1-C84D-0EBA-ACF9-2A35EA132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484" y="1298122"/>
            <a:ext cx="8665029" cy="4874078"/>
          </a:xfrm>
          <a:prstGeom prst="rect">
            <a:avLst/>
          </a:prstGeom>
        </p:spPr>
      </p:pic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2B28FF7-1320-18E6-5884-6F507D326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5989637"/>
            <a:ext cx="2743200" cy="365125"/>
          </a:xfrm>
        </p:spPr>
        <p:txBody>
          <a:bodyPr/>
          <a:lstStyle/>
          <a:p>
            <a:fld id="{C7916C66-CE7D-49F9-91E1-02E5E62A1EEA}" type="slidenum">
              <a:rPr lang="es-CL" smtClean="0"/>
              <a:t>13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911205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9C8B5-02CF-4729-710F-8E45878EA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2202C9-55D4-E186-81E6-B44D2D2D3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7314" y="327479"/>
            <a:ext cx="2917371" cy="1325563"/>
          </a:xfrm>
        </p:spPr>
        <p:txBody>
          <a:bodyPr/>
          <a:lstStyle/>
          <a:p>
            <a:r>
              <a:rPr lang="es-MX" b="1" dirty="0"/>
              <a:t>Mockup</a:t>
            </a:r>
            <a:endParaRPr lang="es-CL" b="1" dirty="0"/>
          </a:p>
        </p:txBody>
      </p:sp>
      <p:pic>
        <p:nvPicPr>
          <p:cNvPr id="4" name="Imagen 3" descr="Tabla&#10;&#10;El contenido generado por IA puede ser incorrecto.">
            <a:extLst>
              <a:ext uri="{FF2B5EF4-FFF2-40B4-BE49-F238E27FC236}">
                <a16:creationId xmlns:a16="http://schemas.microsoft.com/office/drawing/2014/main" id="{CE4A91B1-84C0-CCCC-6B8B-D787F0DE4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114" y="1277711"/>
            <a:ext cx="9165771" cy="5155746"/>
          </a:xfrm>
          <a:prstGeom prst="rect">
            <a:avLst/>
          </a:prstGeom>
        </p:spPr>
      </p:pic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FFE1441D-BD39-F7CC-0FD1-E2679136F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5894234"/>
            <a:ext cx="2743200" cy="365125"/>
          </a:xfrm>
        </p:spPr>
        <p:txBody>
          <a:bodyPr/>
          <a:lstStyle/>
          <a:p>
            <a:fld id="{C7916C66-CE7D-49F9-91E1-02E5E62A1EEA}" type="slidenum">
              <a:rPr lang="es-CL" smtClean="0"/>
              <a:t>14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0211727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074F2-B567-D581-90A7-24A3688B8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42628CA-28F3-55CF-2805-F67311953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5894234"/>
            <a:ext cx="2743200" cy="365125"/>
          </a:xfrm>
        </p:spPr>
        <p:txBody>
          <a:bodyPr/>
          <a:lstStyle/>
          <a:p>
            <a:fld id="{C7916C66-CE7D-49F9-91E1-02E5E62A1EEA}" type="slidenum">
              <a:rPr lang="es-CL" smtClean="0"/>
              <a:t>15</a:t>
            </a:fld>
            <a:endParaRPr lang="es-CL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2C6C459-615C-B12A-A3A3-8DA880A03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7274" y="327479"/>
            <a:ext cx="6433809" cy="1325563"/>
          </a:xfrm>
        </p:spPr>
        <p:txBody>
          <a:bodyPr/>
          <a:lstStyle/>
          <a:p>
            <a:r>
              <a:rPr lang="es-MX" b="1" dirty="0"/>
              <a:t>11. Prototipo Maqueta </a:t>
            </a:r>
            <a:endParaRPr lang="es-CL" b="1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9FD77BA-AD8D-3334-6D4F-BB7363DB7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644" y="1731700"/>
            <a:ext cx="8420362" cy="4026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9848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80BC8F-E684-37D5-F14C-E788B3151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404" y="1434680"/>
            <a:ext cx="6524680" cy="1058624"/>
          </a:xfrm>
        </p:spPr>
        <p:txBody>
          <a:bodyPr>
            <a:normAutofit/>
          </a:bodyPr>
          <a:lstStyle/>
          <a:p>
            <a:r>
              <a:rPr lang="es-CL" sz="4000" b="1" dirty="0"/>
              <a:t>12. Estructura del Repositorio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A3AD6DC-0F65-7463-679C-08295DAF4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505" y="451799"/>
            <a:ext cx="3139712" cy="5502117"/>
          </a:xfrm>
          <a:prstGeom prst="rect">
            <a:avLst/>
          </a:prstGeom>
        </p:spPr>
      </p:pic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6ABDDC-61D1-1783-9595-09E2C4A63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5771353"/>
            <a:ext cx="2743200" cy="365125"/>
          </a:xfrm>
        </p:spPr>
        <p:txBody>
          <a:bodyPr/>
          <a:lstStyle/>
          <a:p>
            <a:fld id="{C7916C66-CE7D-49F9-91E1-02E5E62A1EEA}" type="slidenum">
              <a:rPr lang="es-CL" smtClean="0"/>
              <a:t>16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2225443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54AD8-4B49-427B-CF4E-6DB3DD893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E80981-5F71-7794-E921-33F65F51B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049" y="1120049"/>
            <a:ext cx="10515600" cy="1058624"/>
          </a:xfrm>
        </p:spPr>
        <p:txBody>
          <a:bodyPr>
            <a:normAutofit/>
          </a:bodyPr>
          <a:lstStyle/>
          <a:p>
            <a:r>
              <a:rPr lang="es-CL" sz="4000" b="1" dirty="0"/>
              <a:t>Conclusiones </a:t>
            </a:r>
          </a:p>
        </p:txBody>
      </p:sp>
      <p:pic>
        <p:nvPicPr>
          <p:cNvPr id="5" name="Imagen 4" descr="Imagen que contiene pasto, exterior, fuego, verde">
            <a:extLst>
              <a:ext uri="{FF2B5EF4-FFF2-40B4-BE49-F238E27FC236}">
                <a16:creationId xmlns:a16="http://schemas.microsoft.com/office/drawing/2014/main" id="{5E176F27-478E-EA00-4780-61F69C5D8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802" y="1386673"/>
            <a:ext cx="4838458" cy="3579227"/>
          </a:xfrm>
          <a:prstGeom prst="rect">
            <a:avLst/>
          </a:prstGeom>
        </p:spPr>
      </p:pic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BBCA83F-F273-FB93-38B2-F67350F88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045098"/>
            <a:ext cx="2743200" cy="365125"/>
          </a:xfrm>
        </p:spPr>
        <p:txBody>
          <a:bodyPr/>
          <a:lstStyle/>
          <a:p>
            <a:fld id="{C7916C66-CE7D-49F9-91E1-02E5E62A1EEA}" type="slidenum">
              <a:rPr lang="es-CL" smtClean="0"/>
              <a:t>17</a:t>
            </a:fld>
            <a:endParaRPr lang="es-CL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8614B59-E08B-BD20-D0C2-8C5602EC16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629" y="2800534"/>
            <a:ext cx="657162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definió el alcance y los requerimientos del sistema.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diseñó una arquitectura MVC clara y modular.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estableció la estructura base del proyecto y repositorio.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planificó el desarrollo mediante backlog y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sprints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Sprint 1 cumplió los objetivos de diseño y planificación.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Sprint 2 abordará la implementación y pruebas físicas.</a:t>
            </a:r>
          </a:p>
        </p:txBody>
      </p:sp>
    </p:spTree>
    <p:extLst>
      <p:ext uri="{BB962C8B-B14F-4D97-AF65-F5344CB8AC3E}">
        <p14:creationId xmlns:p14="http://schemas.microsoft.com/office/powerpoint/2010/main" val="10833478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435113-9358-159E-97CA-95CF68FC9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D5A4E5F-F209-36D1-16FF-36040AA9D8BB}"/>
              </a:ext>
            </a:extLst>
          </p:cNvPr>
          <p:cNvSpPr txBox="1"/>
          <p:nvPr/>
        </p:nvSpPr>
        <p:spPr>
          <a:xfrm>
            <a:off x="1849924" y="3488557"/>
            <a:ext cx="888690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400" b="1" cap="all" dirty="0">
                <a:solidFill>
                  <a:schemeClr val="bg1"/>
                </a:solidFill>
              </a:rPr>
              <a:t>Sistema de Validación de Rendimiento de una Bobina Tesla</a:t>
            </a:r>
          </a:p>
          <a:p>
            <a:endParaRPr lang="es-CL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F68573F-9043-934C-E4B9-A3146A5BBD71}"/>
              </a:ext>
            </a:extLst>
          </p:cNvPr>
          <p:cNvSpPr txBox="1"/>
          <p:nvPr/>
        </p:nvSpPr>
        <p:spPr>
          <a:xfrm>
            <a:off x="3835199" y="3966061"/>
            <a:ext cx="4824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>
                <a:solidFill>
                  <a:schemeClr val="bg1"/>
                </a:solidFill>
              </a:rPr>
              <a:t>Ingeniería de Software Interdisciplinaria - Sprint 1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1674B50-46A5-4122-9B02-E329D13A370C}"/>
              </a:ext>
            </a:extLst>
          </p:cNvPr>
          <p:cNvSpPr txBox="1"/>
          <p:nvPr/>
        </p:nvSpPr>
        <p:spPr>
          <a:xfrm>
            <a:off x="6940941" y="4705115"/>
            <a:ext cx="303134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>
                <a:solidFill>
                  <a:schemeClr val="bg1"/>
                </a:solidFill>
              </a:rPr>
              <a:t>Integrantes: Alejandro Alarcón</a:t>
            </a:r>
          </a:p>
          <a:p>
            <a:r>
              <a:rPr lang="es-CL" dirty="0">
                <a:solidFill>
                  <a:schemeClr val="bg1"/>
                </a:solidFill>
              </a:rPr>
              <a:t>	     Pablo Canales </a:t>
            </a:r>
          </a:p>
          <a:p>
            <a:r>
              <a:rPr lang="es-CL" dirty="0">
                <a:solidFill>
                  <a:schemeClr val="bg1"/>
                </a:solidFill>
              </a:rPr>
              <a:t>	     Daniel González</a:t>
            </a:r>
          </a:p>
          <a:p>
            <a:r>
              <a:rPr lang="es-CL" dirty="0">
                <a:solidFill>
                  <a:schemeClr val="bg1"/>
                </a:solidFill>
              </a:rPr>
              <a:t>	     Matias Kohl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1F05B5C-64D1-B517-2F2D-AF0D69133653}"/>
              </a:ext>
            </a:extLst>
          </p:cNvPr>
          <p:cNvSpPr txBox="1"/>
          <p:nvPr/>
        </p:nvSpPr>
        <p:spPr>
          <a:xfrm>
            <a:off x="1849924" y="4683189"/>
            <a:ext cx="4373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>
                <a:solidFill>
                  <a:schemeClr val="bg1">
                    <a:lumMod val="95000"/>
                  </a:schemeClr>
                </a:solidFill>
              </a:rPr>
              <a:t>Profesores : Daniel Gacitúa / Ricardo Hasbún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6DD4B37-2D68-70B8-53D0-A180A4AE13EF}"/>
              </a:ext>
            </a:extLst>
          </p:cNvPr>
          <p:cNvSpPr txBox="1"/>
          <p:nvPr/>
        </p:nvSpPr>
        <p:spPr>
          <a:xfrm>
            <a:off x="2764325" y="5214266"/>
            <a:ext cx="1963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>
                <a:solidFill>
                  <a:schemeClr val="bg1"/>
                </a:solidFill>
              </a:rPr>
              <a:t>Fecha: 17/12/2025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2B9D637-B331-00F0-962D-A34D8CABB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18</a:t>
            </a:fld>
            <a:endParaRPr lang="es-CL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C4234AB-4B85-EEBB-4DE0-6FD633FD4F2C}"/>
              </a:ext>
            </a:extLst>
          </p:cNvPr>
          <p:cNvSpPr txBox="1"/>
          <p:nvPr/>
        </p:nvSpPr>
        <p:spPr>
          <a:xfrm>
            <a:off x="3997707" y="364038"/>
            <a:ext cx="45913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b="1" dirty="0">
                <a:solidFill>
                  <a:schemeClr val="bg1"/>
                </a:solidFill>
              </a:rPr>
              <a:t>Gracias por su atención</a:t>
            </a:r>
          </a:p>
        </p:txBody>
      </p:sp>
    </p:spTree>
    <p:extLst>
      <p:ext uri="{BB962C8B-B14F-4D97-AF65-F5344CB8AC3E}">
        <p14:creationId xmlns:p14="http://schemas.microsoft.com/office/powerpoint/2010/main" val="1290953608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D4076EA140CE4CA15C89423693C657" ma:contentTypeVersion="4" ma:contentTypeDescription="Create a new document." ma:contentTypeScope="" ma:versionID="e636da2350c186fea49dceae6efeb976">
  <xsd:schema xmlns:xsd="http://www.w3.org/2001/XMLSchema" xmlns:xs="http://www.w3.org/2001/XMLSchema" xmlns:p="http://schemas.microsoft.com/office/2006/metadata/properties" xmlns:ns3="a07f4ca9-57f8-4e6c-ad84-77d936a9d1d8" targetNamespace="http://schemas.microsoft.com/office/2006/metadata/properties" ma:root="true" ma:fieldsID="3f2dafb01fc7f5369e57239ab931972d" ns3:_="">
    <xsd:import namespace="a07f4ca9-57f8-4e6c-ad84-77d936a9d1d8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7f4ca9-57f8-4e6c-ad84-77d936a9d1d8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8EC5601-1349-4FE9-A677-D6ECC41F66B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07f4ca9-57f8-4e6c-ad84-77d936a9d1d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AFF853E-BDF3-43FF-9C89-37C77AE06C6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C88A300-FF43-48AD-83D0-254B0D2A1E0E}">
  <ds:schemaRefs>
    <ds:schemaRef ds:uri="http://purl.org/dc/elements/1.1/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a07f4ca9-57f8-4e6c-ad84-77d936a9d1d8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393</TotalTime>
  <Words>809</Words>
  <Application>Microsoft Office PowerPoint</Application>
  <PresentationFormat>Panorámica</PresentationFormat>
  <Paragraphs>165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18</vt:i4>
      </vt:variant>
    </vt:vector>
  </HeadingPairs>
  <TitlesOfParts>
    <vt:vector size="25" baseType="lpstr">
      <vt:lpstr>Aptos</vt:lpstr>
      <vt:lpstr>Arial</vt:lpstr>
      <vt:lpstr>Calibri</vt:lpstr>
      <vt:lpstr>Calibri Light</vt:lpstr>
      <vt:lpstr>Wingdings</vt:lpstr>
      <vt:lpstr>1_Tema de Office</vt:lpstr>
      <vt:lpstr>2_Tema de Office</vt:lpstr>
      <vt:lpstr>Presentación de PowerPoint</vt:lpstr>
      <vt:lpstr>Índice</vt:lpstr>
      <vt:lpstr>Contexto</vt:lpstr>
      <vt:lpstr>2. Objetivos del sprint.</vt:lpstr>
      <vt:lpstr>3. Metodología usada </vt:lpstr>
      <vt:lpstr>4. Metodología scrum</vt:lpstr>
      <vt:lpstr>5. Backlog y actividades</vt:lpstr>
      <vt:lpstr>6. Especificación de requisitos (SRS)</vt:lpstr>
      <vt:lpstr>7. Arquitectura del sistema </vt:lpstr>
      <vt:lpstr>8. Funcionamiento y componentes </vt:lpstr>
      <vt:lpstr>Diagrama UML </vt:lpstr>
      <vt:lpstr>Mockup</vt:lpstr>
      <vt:lpstr>Mockup</vt:lpstr>
      <vt:lpstr>Mockup</vt:lpstr>
      <vt:lpstr>11. Prototipo Maqueta </vt:lpstr>
      <vt:lpstr>12. Estructura del Repositorio</vt:lpstr>
      <vt:lpstr>Conclusiones 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Daniel Rodriguez</dc:creator>
  <cp:lastModifiedBy>Daniel Gonzalez Iturra</cp:lastModifiedBy>
  <cp:revision>23</cp:revision>
  <dcterms:created xsi:type="dcterms:W3CDTF">2022-08-26T15:29:11Z</dcterms:created>
  <dcterms:modified xsi:type="dcterms:W3CDTF">2025-12-17T18:09:15Z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0x01010029D4076EA140CE4CA15C89423693C657</vt:lpwstr>
  </property>
</Properties>
</file>